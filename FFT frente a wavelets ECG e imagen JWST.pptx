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48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los Ejercicios 1 (compresión de un ECG) y 2 (aislamiento de fuentes puntuales en una imagen del JWST). El hilo conductor: cada método elige una base distinta para describir los datos con pocos coeficientes. En azul se usa siempre la FFT y en rojo la DWT, igual que en las figuras.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las siglas antes de ver resultados. Dos ideas para llevarse: el MSE es la energía descartada dividida por el número de datos (Parseval), y el CR cuenta coeficientes, no bits. El código de color se mantiene: azul para la FFT y rojo para la DWT.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figura es esquemática, no sale de datos. Fourier: columnas muy delgadas en frecuencia, anchas en tiempo. DWT: celdas anchas y bajas a baja frecuencia, estrechas y altas a alta frecuencia. Todas con área mínima Δt·Δω ≥ 1/2 (Heisenberg–Gabor). Por eso la DWT sirve para un QRS corto sobre una línea base lenta.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 de entrada. Los picos de 1.5 a 2.5 mV son los QRS; la deriva lenta de la línea base entre −1 y 1 mV concentra la mayor parte de la energía (80 % en A5, 0–5.6 Hz). Ese contraste entre transitorio corto y fondo lento es lo que hace interesante comparar FFT y DWT.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es el mismo porque ambas bases son ortonormales: por Parseval el MSE es la energía descartada dividida por N, y los dos métodos descartan cerca del 5 %. La diferencia está en cuántos coeficientes hacen falta: 334 (4.08 % de N) con la DWT frente a 577 (7.04 %) con la FFT. En el zoom, la curva azul ondula entre latidos y la roja llega más cerca de los picos R (retención 0.81 frente a 0.68).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prueba visual de la localización. La FFT conserva 577 líneas repartidas hasta 29.2 Hz, sin saber cuándo ocurre cada cosa. En la DWT, las bandas D3 (22.5–45 Hz) y D4 (11.2–22.5 Hz) solo aparecen alineadas con los picos R; D2 y D1 (45–180 Hz, 0.35 % de la energía) quedan vacías. Los coeficientes de A5 (80 % de la energía) se reparten por todo el registro: solo el 28 % cae dentro de los QRS.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gráfica de la derecha, la curva roja queda por debajo de la azul: menos error para la misma compresión. A 95 % de energía, CR de 24.5 (DWT) frente a 14.2 (FFT). A 80 % de energía la FFT necesita menos coeficientes (129 frente a 167); desde el 90 % la DWT gana (247 frente a 345). Conviene mostrar también esta excepción. Límite: un solo registro y una sola familia (db4); el CR cuenta coeficientes, no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desde el inicio: IC 348 es una región de formación estelar, no un campo profundo, y la imagen es una composición en color convertida a luminancia (no es flujo lineal). Se promedió en bloques de 3 × 3 porque, sin reducir, las fuentes medían unos 6.6 px de FWHM, comparable al periodo de corte del filtro (8 px). Los MSE son relativos a la escala [0, 1] tras normalizar por percentiles 0.5–99.95 %.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detalles se muestran en escala simétrica (percentil 99.5 de |w|). El umbral universal λ = σ̂·√(2 ln n) = 0.0314 (5.5 σ̂), con σ̂ = 0.0057 estimada con la MAD de cD₁ dividida por 0.6745. Al anular cA₂ se quita el fondo y la nebulosa, como un pasa-altas; el umbral suave elimina el ruido de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filtro es H = 1 − exp(−D²/2D₀²), con D₀ = f_c/√(2 ln 2) = 0.106 ciclos/px, de modo que H vale 0.5 en f_c = 1/8 (estructuras de unos 8 px de periodo). H(0) = 0: se elimina la media local. La fase parece ruido, pero contiene la posición de las estructuras.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imagen más llamativa. Arriba a la derecha, la wavelet deja un cielo casi negro con las estrellas y sus espigas; abajo a la izquierda, la FFT conserva textura de fondo y ondulaciones alrededor de las estrellas brillantes. Correlación de forma sobre recortes de 11 × 11 px de 37 fuentes de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el fondo es una nebulosa, la detección directa no sirve; se detecta sobre la imagen residual (gaussiana de 1 px menos gaussiana de 20 px). Criterio: área a mitad de máximo ≤ 12 px (mediana 9 px), borde de la ventana por debajo del 35 % de la amplitud y al menos 10 σ. El cielo vacío es el 85.5 % de los píxeles. Límite: son 37 fuentes elegidas sobre la misma imagen.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Retención del pico: wavelet 0.47, FFT gaussiana 0.51, FFT ideal 0.59. Esto se explica en parte porque ambos métodos eliminan la baja frecuencia propia de la fuente (cA₂ = 0 en la wavelet, H(0) = 0 en la FFT). En la wavelet se ven además los escalones de la rejilla diádica y un pozo negativo junto al pico.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Correlación de forma sobre recortes de 11 × 11 px. No es un artefacto de los parámetros en la forma: con λ entre 2 σ̂ y 5.5 σ̂ la wavelet nunca pasa de 0.62, y el gaussiano con f_c entre 1/16 y 1/4 va de 0.75 a 0.98. El cielo sí depende: con f_c = 1/4 el gaussiano llega a RMS 0.0069, comparable a la wavelet, pero retiene solo 0.22 del pico. Además la DWT no es invariante a traslaciones: la misma estrella conserva entre 37 % y 80 % del pico según su posición respecto a la rejilla de 4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filtro en frecuencia es una convolución con h, la transformada inversa de H. Si H tiene un corte abrupto, h es un núcleo jinc que decae lento y oscila por toda la imagen. En una dimensión, la serie de Fourier truncada de un salto rebasa su valor en (1/π)·Si(π) − 1/2 = 8.949 % sin importar cuántos términos se usen. El gaussiano casi no produce Gibbs; su halo negativo (−0.10 del pico) viene de H(0) = 0. La wavelet acota dónde aparecen los artefactos (soporte compacto) pero no su amplitud: su lóbulo negativo va de −0.20 a −0.58 del pico.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MSE al 5 %: FFT 1.42e-04, db2 L=2 2.91e-02, db2 L=5 1.32e-04. Con L=2, todo lo retenido es aproximación (cA₂) y ni siquiera se conserva toda esa banda (80 %), así que no queda presupuesto para los detalles; resultado: bloques y 2.9 % de píxeles negativos, físicamente imposibles. Con L=5 la aproximación ocupa solo el 0.10 % de N y el presupuesto se dedica a detalles.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curvas de L=2 (db2, db4, bior2.2) quedan muy arriba hasta el 5 % y se juntan con las demás en el 10 %. Con L ≥ 3 la mejor es db4 con L=5 (0.82 veces el MSE de la FFT); db2 con L=3 queda prácticamente igual (0.96). Una explicación plausible, no verificada: la nebulosa es suave y su energía ya está en bajas frecuencias, donde Fourier es muy eficiente. Límite: una sola imagen.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0972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445258"/>
            <a:ext cx="10769600" cy="459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0972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445258"/>
            <a:ext cx="10769600" cy="459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A33"/>
              </a:gs>
              <a:gs pos="100000">
                <a:srgbClr val="1B2C55"/>
              </a:gs>
            </a:gsLst>
            <a:lin ang="180000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FB0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TALLER · ANÁLISIS ESPECTRAL Y WAVELETS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609600" y="2107946"/>
            <a:ext cx="5624830" cy="1476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12"/>
              </a:lnSpc>
              <a:buNone/>
            </a:pPr>
            <a:r>
              <a:rPr lang="en-US" sz="5600" b="0" i="0" dirty="0">
                <a:solidFill>
                  <a:srgbClr val="F6F4E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FFT frente a wavelets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09600" y="3761994"/>
            <a:ext cx="56248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Compresión de un ECG y aislamiento de fuentes puntuales en una imagen del telescopio James Webb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600" y="5615940"/>
            <a:ext cx="11301984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Juan Esteban Martinez Herrera · Juan David Cuartas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600" y="599948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Universidad del Quindío · Universidad del Valle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EMPEZAR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60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Siglas y términos que aparecen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318260"/>
            <a:ext cx="3558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600" y="1610995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09600" y="1688084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3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1967484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Transformada rápida de Fourier (Fast Fourier Transform): ondas sinusoidales.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600" y="2476119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09600" y="2553208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23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DWT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2832608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Transformada wavelet discreta: ondas cortas a varias escalas.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600" y="3341243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09600" y="3418332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db2 · db4 · bior2.2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3697732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Familias de wavelets: Daubechies y biortogonal.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" y="4206367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09600" y="4283456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 · cA₂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4562856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L: niveles de descomposición. cA₂: parte suave del nivel 2.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600" y="5071490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09600" y="5148580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Umbral suave (λ)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5427980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Resta λ a cada coeficiente y anula los menores.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68800" y="1318260"/>
            <a:ext cx="3558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MEDIDAS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8800" y="1610995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368800" y="1688084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68800" y="1967484"/>
            <a:ext cx="3558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cuadrático medio (Mean Squared Error).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68800" y="2261489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368800" y="2338577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68800" y="2617977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Razón de compresión: N muestras entre M coeficientes conservados.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68800" y="3126613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368800" y="3203702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RMS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68800" y="3483102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Raíz del valor cuadrático medio: tamaño típico del error.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68800" y="3991737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368800" y="4068826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368800" y="4348226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Desviación absoluta mediana: dispersión robusta del ruido.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68800" y="4856861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368800" y="4933950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Parseval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368800" y="5213350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energía no cambia al transformar: el error es la energía descartada.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28000" y="1318260"/>
            <a:ext cx="3558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Y FENÓMENOS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28000" y="1610995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8128000" y="1688084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ECG · QRS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128000" y="1967484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Electrocardiograma; QRS es el pico agudo de cada latido.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28000" y="2476119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8128000" y="2553208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MIT-BIH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128000" y="2832608"/>
            <a:ext cx="3558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de datos de arritmias; registro 208.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128000" y="3126613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8128000" y="3203702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JWST · IC 348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128000" y="3483102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Telescopio James Webb; IC 348, región de formación estelar.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128000" y="3991737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8128000" y="4068826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Gibbs (ringing)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128000" y="4348226"/>
            <a:ext cx="355803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Oscilaciones junto a un salto o un corte brusco.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128000" y="4856861"/>
            <a:ext cx="3454400" cy="0"/>
          </a:xfrm>
          <a:prstGeom prst="line">
            <a:avLst/>
          </a:prstGeom>
          <a:noFill/>
          <a:ln w="635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8128000" y="4933950"/>
            <a:ext cx="355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 de color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128000" y="5213350"/>
            <a:ext cx="3558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= FFT. Rojo = DWT, en todas las figuras.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IDEA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9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Dos maneras de repartir tiempo y frecuencia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4"/>
            <a:ext cx="10966450" cy="2637028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Cuatro formas de repartir el plano tiempo–frecuencia: serie temporal, Fourier, STFT y DWT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742950" y="1449324"/>
            <a:ext cx="10706100" cy="2381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13943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4403598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rectángulo es un átomo: ancho = resolución en tiempo (Δt), alto = resolución en frecuencia (Δω).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48400" y="413943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400" y="4403598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Esquema del principio de Heisenberg–Gabor: Δt · Δω ≥ 1/2. El área de un átomo no puede ser menor.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9600" y="5061457"/>
            <a:ext cx="10972800" cy="883920"/>
          </a:xfrm>
          <a:prstGeom prst="roundRect">
            <a:avLst>
              <a:gd name="adj" fmla="val 14368"/>
            </a:avLst>
          </a:prstGeom>
          <a:solidFill>
            <a:srgbClr val="14213D"/>
          </a:solidFill>
          <a:ln/>
        </p:spPr>
        <p:txBody>
          <a:bodyPr wrap="square" lIns="191403" tIns="140603" rIns="0" bIns="115203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DB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Fourier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fija la frecuencia y pierde el tiempo. La </a:t>
            </a:r>
            <a:r>
              <a:rPr lang="en-US" sz="1600" dirty="0">
                <a:solidFill>
                  <a:srgbClr val="FF8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DWT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usa átomos cortos para frecuencias altas y largos para las bajas: ideal para transitorios.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1 · ECG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9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La señal: latidos agudos sobre una línea base lenta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4"/>
            <a:ext cx="10966450" cy="2497328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Señal de ECG del registro 208 de MIT-BIH, 8192 muestras"/>
          <p:cNvPicPr>
            <a:picLocks noChangeAspect="1"/>
          </p:cNvPicPr>
          <p:nvPr/>
        </p:nvPicPr>
        <p:blipFill>
          <a:blip r:embed="rId3"/>
          <a:srcRect l="-22" r="-22"/>
          <a:stretch/>
        </p:blipFill>
        <p:spPr>
          <a:xfrm>
            <a:off x="742950" y="1449324"/>
            <a:ext cx="10706100" cy="2241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399973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4263898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Electrocardiograma (ECG) del registro 208 de MIT-BIH: 22.8 s, N = 8192 muestras a 360 Hz, en milivoltios (mV).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48400" y="399973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400" y="4263898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Fragmento de N = 8192 muestras tomado del registro de 5 min; es la entrada común de la FFT y la DWT.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9600" y="4921757"/>
            <a:ext cx="10972800" cy="883920"/>
          </a:xfrm>
          <a:prstGeom prst="roundRect">
            <a:avLst>
              <a:gd name="adj" fmla="val 14368"/>
            </a:avLst>
          </a:prstGeom>
          <a:solidFill>
            <a:srgbClr val="14213D"/>
          </a:solidFill>
          <a:ln/>
        </p:spPr>
        <p:txBody>
          <a:bodyPr wrap="square" lIns="191403" tIns="140603" rIns="0" bIns="115203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pico agudo es un complejo QRS (≈ 80 ms), el transitorio que importa conservar. El 80 % de la energía está en la banda lenta (0–5.6 Hz).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1 · RESULTADO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61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Mismo error con 334 coeficientes en vez de 577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6"/>
            <a:ext cx="6902450" cy="5025390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ECG original y reconstrucciones con FFT (577 coeficientes) y DWT (334), con residuos y zoom de 3 s"/>
          <p:cNvPicPr>
            <a:picLocks noChangeAspect="1"/>
          </p:cNvPicPr>
          <p:nvPr/>
        </p:nvPicPr>
        <p:blipFill>
          <a:blip r:embed="rId3"/>
          <a:srcRect t="-4808" b="-4808"/>
          <a:stretch/>
        </p:blipFill>
        <p:spPr>
          <a:xfrm>
            <a:off x="742950" y="1452879"/>
            <a:ext cx="66421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318261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582418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Señal original (negro) y reconstrucciones con </a:t>
            </a:r>
            <a:r>
              <a:rPr lang="en-US" sz="1400" b="1" dirty="0">
                <a:solidFill>
                  <a:srgbClr val="1F63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FFT</a:t>
            </a: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(azul) y </a:t>
            </a:r>
            <a:r>
              <a:rPr lang="en-US" sz="1400" b="1" dirty="0">
                <a:solidFill>
                  <a:srgbClr val="C23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DWT</a:t>
            </a: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(rojo). Debajo, el error de cada una y un zoom de 3 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54911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719068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conservan los coeficientes mayores hasta sumar el 95 % de la energía y se invierte la transformada.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3591561"/>
            <a:ext cx="3810000" cy="1475740"/>
          </a:xfrm>
          <a:prstGeom prst="roundRect">
            <a:avLst>
              <a:gd name="adj" fmla="val 8606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12" name="Text 9"/>
          <p:cNvSpPr/>
          <p:nvPr/>
        </p:nvSpPr>
        <p:spPr>
          <a:xfrm>
            <a:off x="8007858" y="3920491"/>
            <a:ext cx="3453384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igual (MSE 0.0163 y 0.0162 mV²), pero la </a:t>
            </a:r>
            <a:r>
              <a:rPr lang="en-US" sz="1600" dirty="0">
                <a:solidFill>
                  <a:srgbClr val="FF8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DWT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usa 42 % menos coeficientes: CR 24.5 frente a 14.2.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1 · DÓNDE ESTÁ LA INFORMACIÓN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61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La DWT guarda detalle solo donde hay latido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6"/>
            <a:ext cx="10966450" cy="2795778"/>
          </a:xfrm>
          <a:prstGeom prst="roundRect">
            <a:avLst>
              <a:gd name="adj" fmla="val 4429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Panel (a): líneas de Fourier conservadas; panel (b): coeficientes DWT conservados por banda en el tiempo"/>
          <p:cNvPicPr>
            <a:picLocks noChangeAspect="1"/>
          </p:cNvPicPr>
          <p:nvPr/>
        </p:nvPicPr>
        <p:blipFill>
          <a:blip r:embed="rId3"/>
          <a:srcRect t="-26" b="-26"/>
          <a:stretch/>
        </p:blipFill>
        <p:spPr>
          <a:xfrm>
            <a:off x="1511300" y="1449322"/>
            <a:ext cx="9169400" cy="25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29818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4562348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(a) Frecuencias que guarda la FFT. (b) Coeficientes que guarda la DWT por banda (A5 grave … D1 aguda) y en el tiempo.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48400" y="429818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400" y="4562348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marca es un coeficiente retenido con el criterio del 95 % de energía; las líneas grises son los picos 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9600" y="5220208"/>
            <a:ext cx="10972800" cy="883920"/>
          </a:xfrm>
          <a:prstGeom prst="roundRect">
            <a:avLst>
              <a:gd name="adj" fmla="val 14368"/>
            </a:avLst>
          </a:prstGeom>
          <a:solidFill>
            <a:srgbClr val="14213D"/>
          </a:solidFill>
          <a:ln/>
        </p:spPr>
        <p:txBody>
          <a:bodyPr wrap="square" lIns="191403" tIns="140603" rIns="0" bIns="115203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D3 y D4 guardan coeficientes casi solo dentro de los latidos (100 % y 96 %, en ventanas que son el 25 % del tiempo). D2 y D1 se descartan.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1 · COMPRESIÓN FRENTE A ERROR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 igual compresión, la DWT comete menos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10966450" cy="2795778"/>
          </a:xfrm>
          <a:prstGeom prst="roundRect">
            <a:avLst>
              <a:gd name="adj" fmla="val 4429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Coeficientes necesarios y MSE frente a CR para FFT y DWT db4 con energía retenida de 80 % a 99.9 %"/>
          <p:cNvPicPr>
            <a:picLocks noChangeAspect="1"/>
          </p:cNvPicPr>
          <p:nvPr/>
        </p:nvPicPr>
        <p:blipFill>
          <a:blip r:embed="rId3"/>
          <a:srcRect l="-21" r="-21"/>
          <a:stretch/>
        </p:blipFill>
        <p:spPr>
          <a:xfrm>
            <a:off x="2222500" y="1449322"/>
            <a:ext cx="7747000" cy="25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29818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4562348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Izquierda: coeficientes necesarios según la energía retenida. Derecha: MSE frente a CR, en escala logarítmica.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48400" y="429818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400" y="4562348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repite el cálculo con energías de 80 % a 99.9 % y en 13 segmentos distintos del registro.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9600" y="5220208"/>
            <a:ext cx="10972800" cy="883920"/>
          </a:xfrm>
          <a:prstGeom prst="roundRect">
            <a:avLst>
              <a:gd name="adj" fmla="val 14368"/>
            </a:avLst>
          </a:prstGeom>
          <a:solidFill>
            <a:srgbClr val="14213D"/>
          </a:solidFill>
          <a:ln/>
        </p:spPr>
        <p:txBody>
          <a:bodyPr wrap="square" lIns="191403" tIns="140603" rIns="0" bIns="115203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 </a:t>
            </a:r>
            <a:r>
              <a:rPr lang="en-US" sz="1600" dirty="0">
                <a:solidFill>
                  <a:srgbClr val="FF8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DWT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usa menos coeficientes en 13 de 13 segmentos (289 frente a 515 en promedio, −44 %). Única excepción: con solo el 80 % de energía gana la </a:t>
            </a:r>
            <a:r>
              <a:rPr lang="en-US" sz="1600" dirty="0">
                <a:solidFill>
                  <a:srgbClr val="7DB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FFT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LA IMAGEN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IC 348 visto por el telescopio James Webb (JWST)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6902450" cy="5025390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Recorte de 2048 por 2048 píxeles de IC 348 en escala lineal y logarítmica"/>
          <p:cNvPicPr>
            <a:picLocks noChangeAspect="1"/>
          </p:cNvPicPr>
          <p:nvPr/>
        </p:nvPicPr>
        <p:blipFill>
          <a:blip r:embed="rId3"/>
          <a:srcRect t="-27792" b="-27792"/>
          <a:stretch/>
        </p:blipFill>
        <p:spPr>
          <a:xfrm>
            <a:off x="742950" y="1452879"/>
            <a:ext cx="66421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31825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582418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mismo recorte de 2048 × 2048 px en escala lineal (izquierda) y logarítmica (derecha), que revela el fondo débil.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5490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719068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TIFF de 38 204 × 30 866 px → luminancia → promedio en bloques de 3 × 3 → recorte → normalizada a [0, 1].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3591558"/>
            <a:ext cx="3810000" cy="1739900"/>
          </a:xfrm>
          <a:prstGeom prst="roundRect">
            <a:avLst>
              <a:gd name="adj" fmla="val 7299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8007858" y="3920488"/>
            <a:ext cx="3453384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Estrellas con espigas de difracción sobre una nebulosa: el fondo no es plano ni vacío (no es un campo profundo).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MÉTODO CON WAVELETS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DWT 2D: una parte suave y detalles por nivel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6902450" cy="5025390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Descomposición DWT 2D de nivel 2: aproximación cA2 y detalles horizontales, verticales y diagonales de los niveles 2 y 1"/>
          <p:cNvPicPr>
            <a:picLocks noChangeAspect="1"/>
          </p:cNvPicPr>
          <p:nvPr/>
        </p:nvPicPr>
        <p:blipFill>
          <a:blip r:embed="rId3"/>
          <a:srcRect t="-13723" b="-13723"/>
          <a:stretch/>
        </p:blipFill>
        <p:spPr>
          <a:xfrm>
            <a:off x="742950" y="1452879"/>
            <a:ext cx="66421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31825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582421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cA₂: imagen suavizada del nivel 2. cH, cV, cD: bordes horizontales, verticales y diagonales (niveles 2 y 1).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5490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719071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DWT 2D con db2 y L = 2. Para aislar fuentes se hace cA₂ = 0 y se aplica un umbral suave λ = 0.0314 a los detalles.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3591558"/>
            <a:ext cx="3810000" cy="1475740"/>
          </a:xfrm>
          <a:prstGeom prst="roundRect">
            <a:avLst>
              <a:gd name="adj" fmla="val 8606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8001000" y="3920488"/>
            <a:ext cx="3453384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estrellas viven en los detalles: tras el umbral sobrevive solo el 3.96 % de esos coeficientes.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MÉTODO CON FOURIER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FFT 2D: la energía se concentra en el centro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6902450" cy="5025390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Espectro de magnitud logarítmica y espectro de fase de la FFT 2D de la imagen"/>
          <p:cNvPicPr>
            <a:picLocks noChangeAspect="1"/>
          </p:cNvPicPr>
          <p:nvPr/>
        </p:nvPicPr>
        <p:blipFill>
          <a:blip r:embed="rId3"/>
          <a:srcRect t="-31529" b="-31529"/>
          <a:stretch/>
        </p:blipFill>
        <p:spPr>
          <a:xfrm>
            <a:off x="742950" y="1452879"/>
            <a:ext cx="66421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31825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582421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Izquierda: magnitud del espectro (log). Derecha: fase. Los ejes son frecuencias en ciclos por píxel.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5490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719071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FFT 2D centrada, filtro pasa-altas gaussiano con frecuencia de corte f_c = 1/8 ciclos/px y FFT inversa.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3591558"/>
            <a:ext cx="3810000" cy="1475740"/>
          </a:xfrm>
          <a:prstGeom prst="roundRect">
            <a:avLst>
              <a:gd name="adj" fmla="val 8606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7950708" y="3920488"/>
            <a:ext cx="3453384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centro brillante es el fondo y las estructuras grandes; las espigas de difracción son líneas radiales.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RESULTADO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Dos maneras de aislar las fuentes puntuales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5022850" cy="5025390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Imagen original en escala logarítmica, resultado de la wavelet db2 L=2, resultado del pasa-altas gaussiano y diferencia absoluta"/>
          <p:cNvPicPr>
            <a:picLocks noChangeAspect="1"/>
          </p:cNvPicPr>
          <p:nvPr/>
        </p:nvPicPr>
        <p:blipFill>
          <a:blip r:embed="rId3"/>
          <a:srcRect t="-1322" b="-1322"/>
          <a:stretch/>
        </p:blipFill>
        <p:spPr>
          <a:xfrm>
            <a:off x="742950" y="1452879"/>
            <a:ext cx="47625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2800" y="1318258"/>
            <a:ext cx="58602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92800" y="1582421"/>
            <a:ext cx="586028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Arriba: original (escala log) y resultado con wavelet. Abajo: resultado con FFT y diferencia absoluta entre ambos.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92800" y="2214879"/>
            <a:ext cx="58602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2800" y="2479036"/>
            <a:ext cx="586028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Wavelet: db2, L = 2, cA₂ = 0 y umbral suave. FFT: pasa-altas gaussiano con f_c = 1/8 ciclos/px.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89625" y="3224528"/>
            <a:ext cx="5689600" cy="1940560"/>
          </a:xfrm>
          <a:prstGeom prst="roundRect">
            <a:avLst>
              <a:gd name="adj" fmla="val 6545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121400" y="3655058"/>
            <a:ext cx="138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dirty="0">
                <a:solidFill>
                  <a:srgbClr val="FF8A7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2.2×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7632700" y="3674108"/>
            <a:ext cx="383273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cielo más limpio con la wavelet (RMS 0.0050 frente a 0.0112)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21400" y="4315458"/>
            <a:ext cx="138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dirty="0">
                <a:solidFill>
                  <a:srgbClr val="7DB8F5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0.88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7632700" y="4334508"/>
            <a:ext cx="383273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correlación de forma con la FFT; la wavelet obtiene 0.60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CÓMO SE MIDIÓ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37 fuentes de referencia para medir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6902450" cy="5025390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Las 37 fuentes de referencia marcadas sobre la imagen y doce recortes ampliados"/>
          <p:cNvPicPr>
            <a:picLocks noChangeAspect="1"/>
          </p:cNvPicPr>
          <p:nvPr/>
        </p:nvPicPr>
        <p:blipFill>
          <a:blip r:embed="rId3"/>
          <a:srcRect t="-19542" b="-19542"/>
          <a:stretch/>
        </p:blipFill>
        <p:spPr>
          <a:xfrm>
            <a:off x="742950" y="1452879"/>
            <a:ext cx="66421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31825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582421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Izquierda: las 37 fuentes elegidas (círculos). Derecha: 12 de ellas ampliadas, de la más brillante a la más tenue.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5490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719071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Máximos en la imagen sin nebulosa (gaussiana de 1 px menos gaussiana de 20 px); se exigen fuentes compactas (área ≤ 12 px) y aisladas.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3591558"/>
            <a:ext cx="3810000" cy="1739900"/>
          </a:xfrm>
          <a:prstGeom prst="roundRect">
            <a:avLst>
              <a:gd name="adj" fmla="val 7299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8001000" y="4071621"/>
            <a:ext cx="3453384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ellas se mide, para cada método, la posición del máximo, la forma y la fracción del pico que se conserva.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TRES FUENTES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Qué hace cada filtro con una misma estrella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7156450" cy="5025390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Tres fuentes con su recorte original, resultado de wavelet, FFT gaussiano y FFT ideal, y perfil horizontal por el pico"/>
          <p:cNvPicPr>
            <a:picLocks noChangeAspect="1"/>
          </p:cNvPicPr>
          <p:nvPr/>
        </p:nvPicPr>
        <p:blipFill>
          <a:blip r:embed="rId3"/>
          <a:srcRect t="-11391" b="-11391"/>
          <a:stretch/>
        </p:blipFill>
        <p:spPr>
          <a:xfrm>
            <a:off x="742950" y="1452879"/>
            <a:ext cx="68961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26400" y="1318258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26400" y="1582415"/>
            <a:ext cx="366268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fila es una fuente: recorte original, resultado de cada método y perfil horizontal por el pico (negro = original).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26400" y="2454908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26400" y="2719065"/>
            <a:ext cx="366268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Wavelet con umbral suave (rojo), FFT gaussiana (azul) y FFT ideal de corte abrupto (verde) sobre el mismo recorte.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26400" y="3591558"/>
            <a:ext cx="3556000" cy="1739900"/>
          </a:xfrm>
          <a:prstGeom prst="roundRect">
            <a:avLst>
              <a:gd name="adj" fmla="val 7299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8255000" y="3920488"/>
            <a:ext cx="3191764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tres quitan el fondo y dejan entre el 47 % y el 59 % del pico. Ninguno conserva la fuente intacta.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PREGUNTA A, FIDELIDAD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Ningún método gana en todo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5378450" cy="3963670"/>
          </a:xfrm>
          <a:prstGeom prst="roundRect">
            <a:avLst>
              <a:gd name="adj" fmla="val 312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93064" y="1550919"/>
            <a:ext cx="49624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23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DWT · WAVELET DB2, L =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3064" y="1853183"/>
            <a:ext cx="4962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dirty="0">
                <a:solidFill>
                  <a:srgbClr val="C23B2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2.2×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893064" y="2831083"/>
            <a:ext cx="496240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cielo vacío más limpio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3064" y="4246625"/>
            <a:ext cx="496240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RMS en cielo vacío: 0.0050 frente a 0.0112 de la FFT.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3064" y="4575553"/>
            <a:ext cx="496240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Forma: correlación 0.60. Posición del máximo a ≤ 1 px: 92 %.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0775" y="1321433"/>
            <a:ext cx="5378450" cy="3963670"/>
          </a:xfrm>
          <a:prstGeom prst="roundRect">
            <a:avLst>
              <a:gd name="adj" fmla="val 312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81064" y="1550919"/>
            <a:ext cx="49624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3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FFT · PASA-ALTAS GAUSSIANO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81064" y="1853183"/>
            <a:ext cx="4962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dirty="0">
                <a:solidFill>
                  <a:srgbClr val="1F63A8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0.88</a:t>
            </a:r>
            <a:endParaRPr lang="en-US" sz="7000" dirty="0"/>
          </a:p>
        </p:txBody>
      </p:sp>
      <p:sp>
        <p:nvSpPr>
          <p:cNvPr id="13" name="Text 11"/>
          <p:cNvSpPr/>
          <p:nvPr/>
        </p:nvSpPr>
        <p:spPr>
          <a:xfrm>
            <a:off x="6481064" y="2831083"/>
            <a:ext cx="496240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correlación de forma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1064" y="4006596"/>
            <a:ext cx="496240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Frente a 0.60 de la wavelet, que además deforma más la fuente.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1064" y="4575553"/>
            <a:ext cx="496240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Posición del máximo a ≤ 1 px: 100 %. Cielo vacío: RMS 0.0112.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600" y="5466079"/>
            <a:ext cx="10972800" cy="883920"/>
          </a:xfrm>
          <a:prstGeom prst="roundRect">
            <a:avLst>
              <a:gd name="adj" fmla="val 14368"/>
            </a:avLst>
          </a:prstGeom>
          <a:solidFill>
            <a:srgbClr val="14213D"/>
          </a:solidFill>
          <a:ln/>
        </p:spPr>
        <p:txBody>
          <a:bodyPr wrap="square" lIns="191403" tIns="140603" rIns="0" bIns="115203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Para </a:t>
            </a:r>
            <a:r>
              <a:rPr lang="en-US" sz="1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detectar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fuentes, la </a:t>
            </a:r>
            <a:r>
              <a:rPr lang="en-US" sz="1600" dirty="0">
                <a:solidFill>
                  <a:srgbClr val="FF8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wavelet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Para </a:t>
            </a:r>
            <a:r>
              <a:rPr lang="en-US" sz="1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medir forma y flujo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el pasa-altas </a:t>
            </a:r>
            <a:r>
              <a:rPr lang="en-US" sz="1600" dirty="0">
                <a:solidFill>
                  <a:srgbClr val="7DB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gaussiano</a:t>
            </a: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Medido sobre 37 fuentes de referencia.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PREGUNTA B, GIBBS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El efecto Gibbs nace del corte abrupto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10966450" cy="2795778"/>
          </a:xfrm>
          <a:prstGeom prst="roundRect">
            <a:avLst>
              <a:gd name="adj" fmla="val 4429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Respuesta al impulso de los tres filtros y energía acumulada frente al radio"/>
          <p:cNvPicPr>
            <a:picLocks noChangeAspect="1"/>
          </p:cNvPicPr>
          <p:nvPr/>
        </p:nvPicPr>
        <p:blipFill>
          <a:blip r:embed="rId3"/>
          <a:srcRect t="-25" b="-25"/>
          <a:stretch/>
        </p:blipFill>
        <p:spPr>
          <a:xfrm>
            <a:off x="2095500" y="1449319"/>
            <a:ext cx="8001000" cy="25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29818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4562345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Izquierda: respuesta de cada filtro a una fuente puntual. Derecha: energía acumulada dentro de cada radio.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48400" y="4298187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400" y="4562345"/>
            <a:ext cx="54940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filtra un impulso con la FFT gaussiana, la FFT ideal (corte abrupto) y la wavelet db2 con L = 2.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9600" y="5220208"/>
            <a:ext cx="10972800" cy="883920"/>
          </a:xfrm>
          <a:prstGeom prst="roundRect">
            <a:avLst>
              <a:gd name="adj" fmla="val 14368"/>
            </a:avLst>
          </a:prstGeom>
          <a:solidFill>
            <a:srgbClr val="14213D"/>
          </a:solidFill>
          <a:ln/>
        </p:spPr>
        <p:txBody>
          <a:bodyPr wrap="square" lIns="191403" tIns="140603" rIns="0" bIns="115203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filtro ideal oscila lejos: su 99 % de energía llega a 42 px (Gibbs). El gaussiano y la wavelet se apagan en 4 y 6 px, aunque la wavelet deja un lóbulo negativo mayor.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PREGUNTA C, COMPRESIÓN AL 5 %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Con el 5 % de coeficientes, db2 con L = 2 falla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6902450" cy="5025390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Recorte original y reconstrucciones con el 5 % de los coeficientes con FFT, db2 L=2 y db2 L=5, con sus mapas de error"/>
          <p:cNvPicPr>
            <a:picLocks noChangeAspect="1"/>
          </p:cNvPicPr>
          <p:nvPr/>
        </p:nvPicPr>
        <p:blipFill>
          <a:blip r:embed="rId3"/>
          <a:srcRect t="-18703" b="-18703"/>
          <a:stretch/>
        </p:blipFill>
        <p:spPr>
          <a:xfrm>
            <a:off x="742950" y="1452873"/>
            <a:ext cx="66421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31825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582415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Arriba: recorte original y reconstrucciones con FFT, db2 L = 2 y db2 L = 5. Abajo: el error de cada una.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5490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719065"/>
            <a:ext cx="39243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conserva el 5 % de los coeficientes de mayor módulo en cada transformada.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3351523"/>
            <a:ext cx="3810000" cy="2004060"/>
          </a:xfrm>
          <a:prstGeom prst="roundRect">
            <a:avLst>
              <a:gd name="adj" fmla="val 633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8001000" y="3680453"/>
            <a:ext cx="3453384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db2 con L = 2 sale en bloques (MSE 205 veces el de la FFT): su banda cA₂ ya ocupa el 6.25 % de los coeficientes, más que el 5 % permitido.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PREGUNTA C, COMPRESIÓN AL 5 %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21358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4213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Con L ≥ 3 la ventaja de las wavelets es pequeña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321433"/>
            <a:ext cx="6902450" cy="5025390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MSE frente al porcentaje de coeficientes retenidos para la FFT y siete configuraciones de wavelet"/>
          <p:cNvPicPr>
            <a:picLocks noChangeAspect="1"/>
          </p:cNvPicPr>
          <p:nvPr/>
        </p:nvPicPr>
        <p:blipFill>
          <a:blip r:embed="rId3"/>
          <a:srcRect t="-17071" b="-17071"/>
          <a:stretch/>
        </p:blipFill>
        <p:spPr>
          <a:xfrm>
            <a:off x="742950" y="1452873"/>
            <a:ext cx="66421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31825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REPRESENTA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582415"/>
            <a:ext cx="392430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(MSE, escala log) según el porcentaje de coeficientes retenidos: FFT y siete configuraciones de wavelet.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54908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961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OBTUVO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719065"/>
            <a:ext cx="39243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D46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Mismo criterio de mayor módulo, desde 0.5 % hasta 20 % de los coeficientes.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3351523"/>
            <a:ext cx="3810000" cy="1739900"/>
          </a:xfrm>
          <a:prstGeom prst="roundRect">
            <a:avLst>
              <a:gd name="adj" fmla="val 7299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8001000" y="3680453"/>
            <a:ext cx="3453384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L = 2 el error es dos órdenes de magnitud mayor hasta el 5 %. Con L ≥ 3, la DWT queda entre 0.82 y 0.96 veces el MSE de la FFT.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FT frente a wavelets: ECG e imagen JWST">
  <a:themeElements>
    <a:clrScheme name="FFT frente a wavelets: ECG e imagen JWST">
      <a:dk1>
        <a:srgbClr val="3D4659"/>
      </a:dk1>
      <a:lt1>
        <a:srgbClr val="F6F4EE"/>
      </a:lt1>
      <a:dk2>
        <a:srgbClr val="6B727E"/>
      </a:dk2>
      <a:lt2>
        <a:srgbClr val="E4E3DF"/>
      </a:lt2>
      <a:accent1>
        <a:srgbClr val="14213D"/>
      </a:accent1>
      <a:accent2>
        <a:srgbClr val="9FB0D0"/>
      </a:accent2>
      <a:accent3>
        <a:srgbClr val="1F63A8"/>
      </a:accent3>
      <a:accent4>
        <a:srgbClr val="C23B2E"/>
      </a:accent4>
      <a:accent5>
        <a:srgbClr val="1B2C55"/>
      </a:accent5>
      <a:accent6>
        <a:srgbClr val="7DB8F5"/>
      </a:accent6>
      <a:hlink>
        <a:srgbClr val="0563C1"/>
      </a:hlink>
      <a:folHlink>
        <a:srgbClr val="954F72"/>
      </a:folHlink>
    </a:clrScheme>
    <a:fontScheme name="FFT frente a wavelets: ECG e imagen JWST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3158</Words>
  <Application>Microsoft Office PowerPoint</Application>
  <PresentationFormat>Panorámica</PresentationFormat>
  <Paragraphs>188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EB Garamond</vt:lpstr>
      <vt:lpstr>IBM Plex Sans</vt:lpstr>
      <vt:lpstr>FFT frente a wavelets: ECG e imagen JWST</vt:lpstr>
      <vt:lpstr>FFT frente a wavelets</vt:lpstr>
      <vt:lpstr>Siglas y términos que aparecen</vt:lpstr>
      <vt:lpstr>Dos maneras de repartir tiempo y frecuencia</vt:lpstr>
      <vt:lpstr>La señal: latidos agudos sobre una línea base lenta</vt:lpstr>
      <vt:lpstr>Mismo error con 334 coeficientes en vez de 577</vt:lpstr>
      <vt:lpstr>La DWT guarda detalle solo donde hay latido</vt:lpstr>
      <vt:lpstr>A igual compresión, la DWT comete menos error</vt:lpstr>
      <vt:lpstr>IC 348 visto por el telescopio James Webb (JWST)</vt:lpstr>
      <vt:lpstr>DWT 2D: una parte suave y detalles por nivel</vt:lpstr>
      <vt:lpstr>FFT 2D: la energía se concentra en el centro</vt:lpstr>
      <vt:lpstr>Dos maneras de aislar las fuentes puntuales</vt:lpstr>
      <vt:lpstr>37 fuentes de referencia para medir</vt:lpstr>
      <vt:lpstr>Qué hace cada filtro con una misma estrella</vt:lpstr>
      <vt:lpstr>Ningún método gana en todo</vt:lpstr>
      <vt:lpstr>El efecto Gibbs nace del corte abrupto</vt:lpstr>
      <vt:lpstr>Con el 5 % de coeficientes, db2 con L = 2 falla</vt:lpstr>
      <vt:lpstr>Con L ≥ 3 la ventaja de las wavelets es pequeña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FFT frente a wavelets: ECG e imagen JWST</dc:title>
  <dc:subject/>
  <dc:creator/>
  <cp:lastModifiedBy>Juan E Martinez H</cp:lastModifiedBy>
  <cp:revision>2</cp:revision>
  <dcterms:created xsi:type="dcterms:W3CDTF">2026-10-05T17:40:31Z</dcterms:created>
  <dcterms:modified xsi:type="dcterms:W3CDTF">2026-10-06T00:12:26Z</dcterms:modified>
</cp:coreProperties>
</file>